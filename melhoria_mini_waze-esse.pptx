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3" r:id="rId10"/>
    <p:sldId id="26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5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-1364566" y="2030143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Melhoria</a:t>
            </a:r>
            <a:r>
              <a:rPr lang="en-US" sz="40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Mini Waze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-703384" y="2441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340174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Alunos: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Guilherme Thomasi Ronca – 22.00522-6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31089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A* Padrão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200400" cy="411480"/>
          </a:xfrm>
          <a:prstGeom prst="rect">
            <a:avLst/>
          </a:prstGeom>
          <a:solidFill>
            <a:srgbClr val="1F1215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peso = distância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apenas a menor distância entre dois pontos.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perfil de elevação das vias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Subidas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íngremes têm o mesmo custo que trechos planos.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749040" cy="310896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200400" cy="411480"/>
          </a:xfrm>
          <a:prstGeom prst="rect">
            <a:avLst/>
          </a:prstGeom>
          <a:solidFill>
            <a:srgbClr val="0F1F15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peso = dist × f(inclinação)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6517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arestas com inclinação positiva usando fator quadrático.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continua sendo A*, mas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trajetos com menor esforço de subida.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Hipótese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55448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substituir o peso das arestas de distância pura por uma função de custo que penaliza inclinação, é possível </a:t>
            </a:r>
            <a:r>
              <a:rPr lang="en-US" sz="1800" i="1" dirty="0" err="1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</a:t>
            </a:r>
            <a:r>
              <a:rPr lang="en-US" sz="18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esforço de subida acumulado em trajetos urbanos, com aumento aceitável de distância total.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Validação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4114800"/>
            <a:ext cx="2468880" cy="77724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de Subida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(m)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4114800"/>
            <a:ext cx="2468880" cy="777240"/>
          </a:xfrm>
          <a:prstGeom prst="rect">
            <a:avLst/>
          </a:prstGeom>
          <a:solidFill>
            <a:srgbClr val="1A1D27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472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Total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Trajeto (m)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4114800"/>
            <a:ext cx="2468880" cy="777240"/>
          </a:xfrm>
          <a:prstGeom prst="rect">
            <a:avLst/>
          </a:prstGeom>
          <a:solidFill>
            <a:srgbClr val="1A1D2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0936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× Energia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Técnico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6576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Open-Elevation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por nó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2377440" cy="914400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elevation_url_template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"api.open-elevation.com/..."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interseção do grafo recebe sua altitude via requisição HTTP à API.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51760" cy="36576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Enriquecimento do </a:t>
            </a:r>
            <a:r>
              <a:rPr lang="en-US" sz="1200" b="1" dirty="0" err="1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Elevação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 nós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1920240"/>
            <a:ext cx="2377440" cy="914400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add_node_elevations_google(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G, api_key=None,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batch_size=100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718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 popula o atributo de altitude em cada nó do grafo de ruas.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36576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12801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 nas Arestas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Inclinação por rua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920240"/>
            <a:ext cx="2377440" cy="914400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add_edge_grades(G)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9718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de altitude entre nós de origem e destino, normalizada pelo comprimento da aresta.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0896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8932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A* Modificado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Função de Custo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749040" cy="594360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peso = dist × (1 + (grade×10)²)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749040" cy="685800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≤ 0  → </a:t>
            </a:r>
            <a:r>
              <a:rPr lang="en-US" sz="1200" b="1" dirty="0" err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penalidade</a:t>
            </a: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(plano ou descida)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749040" cy="685800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&gt; 0 → 1 + (grade×10)²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(subida íngreme = custo alto)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 A* </a:t>
            </a:r>
            <a:r>
              <a:rPr lang="en-US" sz="12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</a:t>
            </a: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inalterada</a:t>
            </a: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apenas o peso das arestas muda.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365760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Cálculo do Custo Total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83480" y="1874520"/>
            <a:ext cx="3520440" cy="2011680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1920240"/>
            <a:ext cx="3337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calculate_total_energy(route):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edges = route_to_gdf(G, route)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_, edge in edges.iterrows():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'length': edge['length'],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'grade':  edge.get('grade',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energy_cost(None, None, 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39776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cada aresta e acumula o custo usando a mesma função de peso do A* garantindo consistência entre roteamento e métrica de validação.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93217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</a:t>
            </a:r>
            <a:r>
              <a:rPr lang="en-US" sz="36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600" b="1" dirty="0" err="1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Quantitativa</a:t>
            </a:r>
            <a:endParaRPr lang="en-US" sz="3600" b="1" dirty="0">
              <a:solidFill>
                <a:srgbClr val="F0F0F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r>
              <a:rPr lang="en-US" b="1" dirty="0" err="1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Trecho</a:t>
            </a:r>
            <a:r>
              <a:rPr lang="en-US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Shopping São Caetano </a:t>
            </a:r>
            <a:r>
              <a:rPr lang="en-US" b="1" dirty="0" err="1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até</a:t>
            </a:r>
            <a:r>
              <a:rPr lang="en-US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IMT</a:t>
            </a:r>
            <a:endParaRPr lang="en-US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" y="2669721"/>
            <a:ext cx="7345099" cy="502919"/>
          </a:xfrm>
          <a:prstGeom prst="rect">
            <a:avLst/>
          </a:prstGeom>
          <a:solidFill>
            <a:srgbClr val="13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697153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1400" b="1" dirty="0" err="1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82112" y="2697153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 Vermelha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59552" y="2697153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 Verde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88352" y="2697153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3172641"/>
            <a:ext cx="7345099" cy="566928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3245793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</a:t>
            </a: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82112" y="3245793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2.888,39 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59552" y="3245793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3.112,28 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3785289"/>
            <a:ext cx="7345099" cy="566928"/>
          </a:xfrm>
          <a:prstGeom prst="rect">
            <a:avLst/>
          </a:prstGeom>
          <a:solidFill>
            <a:srgbClr val="131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858441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</a:t>
            </a: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Subida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82112" y="3858441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36,00 un.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59552" y="3858441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12,00 un.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4397937"/>
            <a:ext cx="7345099" cy="566928"/>
          </a:xfrm>
          <a:prstGeom prst="rect">
            <a:avLst/>
          </a:prstGeom>
          <a:solidFill>
            <a:srgbClr val="1A1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471089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Energético Total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82112" y="4471089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3.541,92 un.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59552" y="4471089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3.140,13 un.</a:t>
            </a:r>
            <a:endParaRPr lang="en-US" sz="1400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A21CADA5-6468-4766-5D51-E96072A8DA4C}"/>
              </a:ext>
            </a:extLst>
          </p:cNvPr>
          <p:cNvSpPr/>
          <p:nvPr/>
        </p:nvSpPr>
        <p:spPr>
          <a:xfrm>
            <a:off x="350810" y="1314079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Custo Relativo  </a:t>
            </a: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Como não há veículo específico parametrizado, o valor retornado pela energy_cost é adimensional: representa o esforço relativo de cada aresta, penalizado pela inclinação.</a:t>
            </a:r>
            <a:endParaRPr lang="en-US" sz="1300" dirty="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6F21ADDB-21B7-C309-9B29-7E2DD6D4B905}"/>
              </a:ext>
            </a:extLst>
          </p:cNvPr>
          <p:cNvSpPr/>
          <p:nvPr/>
        </p:nvSpPr>
        <p:spPr>
          <a:xfrm>
            <a:off x="350810" y="1778564"/>
            <a:ext cx="7341761" cy="845438"/>
          </a:xfrm>
          <a:prstGeom prst="rec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47183863-ED2B-00E3-375F-5A6FB79F010D}"/>
              </a:ext>
            </a:extLst>
          </p:cNvPr>
          <p:cNvSpPr/>
          <p:nvPr/>
        </p:nvSpPr>
        <p:spPr>
          <a:xfrm>
            <a:off x="533690" y="177856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custo_aresta  =  </a:t>
            </a: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distancia  x  (1 + (grade x 10)^2)</a:t>
            </a:r>
            <a:endParaRPr lang="en-US" sz="1050" dirty="0"/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164E36BC-5649-3C0F-E39F-1DFFF67EFC39}"/>
              </a:ext>
            </a:extLst>
          </p:cNvPr>
          <p:cNvSpPr/>
          <p:nvPr/>
        </p:nvSpPr>
        <p:spPr>
          <a:xfrm>
            <a:off x="533690" y="20695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 Vermelha:  </a:t>
            </a: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 dist_i x penalidade_i )   =   3.541,92  (subidas caras acumuladas)</a:t>
            </a:r>
            <a:endParaRPr lang="en-US" sz="1050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B7F4B4FE-5E30-B2B4-6101-B87141865811}"/>
              </a:ext>
            </a:extLst>
          </p:cNvPr>
          <p:cNvSpPr/>
          <p:nvPr/>
        </p:nvSpPr>
        <p:spPr>
          <a:xfrm>
            <a:off x="530352" y="2358825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 Verde:     </a:t>
            </a: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 dist_i x penalidade_i )   =   3.140,13  (subidas evitadas -&gt; custo menor)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3600" dirty="0"/>
          </a:p>
        </p:txBody>
      </p:sp>
      <p:pic>
        <p:nvPicPr>
          <p:cNvPr id="3" name="Image 0" descr="/mnt/user-data/uploads/177974274003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41148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28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Distância    </a:t>
            </a: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Inclinação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846320" y="1188720"/>
            <a:ext cx="3840480" cy="10972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846320" y="1188720"/>
            <a:ext cx="73152" cy="10972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0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66.7%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995160" y="13258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esforço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subida acumulado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2468880"/>
            <a:ext cx="3840480" cy="10972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246888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11.3%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995160" y="2606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no custo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energético total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46320" y="3749040"/>
            <a:ext cx="3840480" cy="1097280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46320" y="3749040"/>
            <a:ext cx="73152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0" y="3794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+7.7%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995160" y="3886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distância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(trade-off aceito)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4746342D974F44F88AB60C5F79C6F0D" ma:contentTypeVersion="15" ma:contentTypeDescription="Crie um novo documento." ma:contentTypeScope="" ma:versionID="b903dda4db445842ae0fc9aac47b185b">
  <xsd:schema xmlns:xsd="http://www.w3.org/2001/XMLSchema" xmlns:xs="http://www.w3.org/2001/XMLSchema" xmlns:p="http://schemas.microsoft.com/office/2006/metadata/properties" xmlns:ns3="ffd14f0a-8396-4ecd-a7b2-8d3fc6989f0c" xmlns:ns4="f9a3873b-0cad-4793-be1c-688170a8bddf" targetNamespace="http://schemas.microsoft.com/office/2006/metadata/properties" ma:root="true" ma:fieldsID="bb76dbcba8c63108e15bb9a878d9820c" ns3:_="" ns4:_="">
    <xsd:import namespace="ffd14f0a-8396-4ecd-a7b2-8d3fc6989f0c"/>
    <xsd:import namespace="f9a3873b-0cad-4793-be1c-688170a8bd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14f0a-8396-4ecd-a7b2-8d3fc6989f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a3873b-0cad-4793-be1c-688170a8bdd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fd14f0a-8396-4ecd-a7b2-8d3fc6989f0c" xsi:nil="true"/>
  </documentManagement>
</p:properties>
</file>

<file path=customXml/itemProps1.xml><?xml version="1.0" encoding="utf-8"?>
<ds:datastoreItem xmlns:ds="http://schemas.openxmlformats.org/officeDocument/2006/customXml" ds:itemID="{741A3B0B-D424-42B8-8FDF-071DF2AC57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14f0a-8396-4ecd-a7b2-8d3fc6989f0c"/>
    <ds:schemaRef ds:uri="f9a3873b-0cad-4793-be1c-688170a8bd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DB738D-F4F2-4CEB-B27C-CFA8F3A5BC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D68854-AF6D-422D-AC62-140FB0A49EAE}">
  <ds:schemaRefs>
    <ds:schemaRef ds:uri="http://schemas.microsoft.com/office/2006/documentManagement/types"/>
    <ds:schemaRef ds:uri="http://purl.org/dc/terms/"/>
    <ds:schemaRef ds:uri="ffd14f0a-8396-4ecd-a7b2-8d3fc6989f0c"/>
    <ds:schemaRef ds:uri="http://schemas.microsoft.com/office/2006/metadata/properties"/>
    <ds:schemaRef ds:uri="http://schemas.openxmlformats.org/package/2006/metadata/core-properties"/>
    <ds:schemaRef ds:uri="f9a3873b-0cad-4793-be1c-688170a8bddf"/>
    <ds:schemaRef ds:uri="http://www.w3.org/XML/1998/namespace"/>
    <ds:schemaRef ds:uri="http://schemas.microsoft.com/office/infopath/2007/PartnerControl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586</Words>
  <Application>Microsoft Office PowerPoint</Application>
  <PresentationFormat>On-screen Show (16:9)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Melhoria Mini Waze - Eficiência de Subida</dc:title>
  <dc:subject>PptxGenJS Presentation</dc:subject>
  <dc:creator>Rontho</dc:creator>
  <cp:lastModifiedBy>GUILHERME THOMASI RONCA</cp:lastModifiedBy>
  <cp:revision>4</cp:revision>
  <dcterms:created xsi:type="dcterms:W3CDTF">2026-05-25T22:04:46Z</dcterms:created>
  <dcterms:modified xsi:type="dcterms:W3CDTF">2026-05-25T23:58:25Z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0x01010034746342D974F44F88AB60C5F79C6F0D</vt:lpwstr>
  </property>
</Properties>
</file>